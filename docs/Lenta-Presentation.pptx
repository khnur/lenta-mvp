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0B5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FF3E7"/>
                </a:solidFill>
                <a:latin typeface="Calibri"/>
              </a:rPr>
              <a:t>AI SYSTEM · PERSONALIZED VIDEO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800" b="1">
                <a:solidFill>
                  <a:srgbClr val="FFFFFF"/>
                </a:solidFill>
                <a:latin typeface="Calibri"/>
              </a:rPr>
              <a:t>Lenta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E6F6F1"/>
                </a:solidFill>
                <a:latin typeface="Calibri"/>
              </a:rPr>
              <a:t>A self-learning recommendation engine for a digital media platform 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E6F6F1"/>
                </a:solidFill>
                <a:latin typeface="Calibri"/>
              </a:rPr>
              <a:t>built end-to-end, deployed, and running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4340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0740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4231C"/>
                </a:solidFill>
                <a:latin typeface="Calibri"/>
              </a:rPr>
              <a:t>● LIVE &amp; DEPLOYED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FE8DB"/>
                </a:solidFill>
                <a:latin typeface="Calibri"/>
              </a:rPr>
              <a:t>Dashboard: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https://lenta-mvp.xyz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FE8DB"/>
                </a:solidFill>
                <a:latin typeface="Calibri"/>
              </a:rPr>
              <a:t>API &amp; docs: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https://api.lenta-mvp.xyz/docs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FE8DB"/>
                </a:solidFill>
                <a:latin typeface="Calibri"/>
              </a:rPr>
              <a:t>Source: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github.com/khnur/lenta-mvp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3A386"/>
                </a:solidFill>
                <a:latin typeface="Calibri"/>
              </a:rPr>
              <a:t>01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1B2D"/>
                </a:solidFill>
                <a:latin typeface="Calibri"/>
              </a:rPr>
              <a:t>The problem &amp;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2794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FB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53896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92808"/>
            <a:ext cx="49926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Users can't find content they'll enjoy as the library grows → engagement drops.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Ranking lacks real-time personalization — it can't react to what a user does now.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Audience analysis is manual, so the system never improves on its own.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No measurement proving recommendations actually help.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453896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The Lenta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1892808"/>
            <a:ext cx="49926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A personalized feed per user from a proven recommendation funnel.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A real-time loop: every play reshapes the next feed.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A self-learning loop: retrains on fresh behavior, hot-swaps the new model — zero downtime.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A built-in A/B test + live dashboard measuring impact continuously.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36592"/>
            <a:ext cx="106984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E7C66"/>
                </a:solidFill>
                <a:latin typeface="Calibri"/>
              </a:rPr>
              <a:t>Design principle: optimize WATCH-TIME, not clicks.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21B2D"/>
                </a:solidFill>
                <a:latin typeface="Calibri"/>
              </a:rPr>
              <a:t>Ranking on clicks breeds click-bait; ranking on watch-time aligns the recommender with the platform's real goal — retention and engagement depth.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3A386"/>
                </a:solidFill>
                <a:latin typeface="Calibri"/>
              </a:rPr>
              <a:t>02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1B2D"/>
                </a:solidFill>
                <a:latin typeface="Calibri"/>
              </a:rPr>
              <a:t>Architecture — the funnel + two loops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2794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993392" cy="1051560"/>
          </a:xfrm>
          <a:prstGeom prst="roundRect">
            <a:avLst>
              <a:gd name="adj" fmla="val 6000"/>
            </a:avLst>
          </a:prstGeom>
          <a:solidFill>
            <a:srgbClr val="EEF7F4"/>
          </a:solidFill>
          <a:ln w="12700">
            <a:solidFill>
              <a:srgbClr val="13A3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99339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9933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21B2D"/>
                </a:solidFill>
                <a:latin typeface="Calibri"/>
              </a:rPr>
              <a:t>all videos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1554480"/>
            <a:ext cx="20116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3A386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371600"/>
            <a:ext cx="1993392" cy="1051560"/>
          </a:xfrm>
          <a:prstGeom prst="roundRect">
            <a:avLst>
              <a:gd name="adj" fmla="val 6000"/>
            </a:avLst>
          </a:prstGeom>
          <a:solidFill>
            <a:srgbClr val="EEF7F4"/>
          </a:solidFill>
          <a:ln w="12700">
            <a:solidFill>
              <a:srgbClr val="13A3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81328"/>
            <a:ext cx="199339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74519"/>
            <a:ext cx="19933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21B2D"/>
                </a:solidFill>
                <a:latin typeface="Calibri"/>
              </a:rPr>
              <a:t>ALS collaborative
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554480"/>
            <a:ext cx="20116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3A38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371600"/>
            <a:ext cx="1993392" cy="1051560"/>
          </a:xfrm>
          <a:prstGeom prst="roundRect">
            <a:avLst>
              <a:gd name="adj" fmla="val 6000"/>
            </a:avLst>
          </a:prstGeom>
          <a:solidFill>
            <a:srgbClr val="EEF7F4"/>
          </a:solidFill>
          <a:ln w="12700">
            <a:solidFill>
              <a:srgbClr val="13A3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481328"/>
            <a:ext cx="199339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874519"/>
            <a:ext cx="19933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21B2D"/>
                </a:solidFill>
                <a:latin typeface="Calibri"/>
              </a:rPr>
              <a:t>LightGBM ·
watch-time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1554480"/>
            <a:ext cx="20116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3A38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371600"/>
            <a:ext cx="1993392" cy="1051560"/>
          </a:xfrm>
          <a:prstGeom prst="roundRect">
            <a:avLst>
              <a:gd name="adj" fmla="val 6000"/>
            </a:avLst>
          </a:prstGeom>
          <a:solidFill>
            <a:srgbClr val="EEF7F4"/>
          </a:solidFill>
          <a:ln w="12700">
            <a:solidFill>
              <a:srgbClr val="13A3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481328"/>
            <a:ext cx="199339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Re-rank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74519"/>
            <a:ext cx="19933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21B2D"/>
                </a:solidFill>
                <a:latin typeface="Calibri"/>
              </a:rPr>
              <a:t>diversity +
freshness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1554480"/>
            <a:ext cx="20116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3A38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371600"/>
            <a:ext cx="1993392" cy="1051560"/>
          </a:xfrm>
          <a:prstGeom prst="roundRect">
            <a:avLst>
              <a:gd name="adj" fmla="val 6000"/>
            </a:avLst>
          </a:prstGeom>
          <a:solidFill>
            <a:srgbClr val="EEF3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481328"/>
            <a:ext cx="199339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Feed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874519"/>
            <a:ext cx="19933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21B2D"/>
                </a:solidFill>
                <a:latin typeface="Calibri"/>
              </a:rPr>
              <a:t>personalized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74320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871216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⚡ Real-time loop (Redis)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310128"/>
            <a:ext cx="50383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Every event updates the user's session profile instantly — recent genres, streaks, time-of-day.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The ranker reads it live, so the very next feed reflects what the user just did.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4320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2871216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🔁 Self-learning loop (Postgres)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310128"/>
            <a:ext cx="50383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Behavior → Postgres → scheduled / on-demand retrain → versioned model registry.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The API hot-swaps to the new model with zero downtime — no redeploy.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177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07086"/>
                </a:solidFill>
                <a:latin typeface="Calibri"/>
              </a:rPr>
              <a:t>Deployed as separate services: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21B2D"/>
                </a:solidFill>
                <a:latin typeface="Calibri"/>
              </a:rPr>
              <a:t>core (shared ML lib) · api (FastAPI) · trainer (worker) · dashboard (React) · Postgres + Redis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3A386"/>
                </a:solidFill>
                <a:latin typeface="Calibri"/>
              </a:rPr>
              <a:t>03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1B2D"/>
                </a:solidFill>
                <a:latin typeface="Calibri"/>
              </a:rPr>
              <a:t>How each feature works — and 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2794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6424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E7C66"/>
                </a:solidFill>
                <a:latin typeface="Calibri"/>
              </a:rPr>
              <a:t>Candidate generation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21B2D"/>
                </a:solidFill>
                <a:latin typeface="Calibri"/>
              </a:rPr>
              <a:t>ALS collaborative filtering finds “videos for you”; content &amp; popularity fallbacks for cold-start users and new uploads.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12848"/>
            <a:ext cx="1106424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E7C66"/>
                </a:solidFill>
                <a:latin typeface="Calibri"/>
              </a:rPr>
              <a:t>Ranking on watch-time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21B2D"/>
                </a:solidFill>
                <a:latin typeface="Calibri"/>
              </a:rPr>
              <a:t>LightGBM predicts how much of each video the user will watch — optimizing retention, not click-bait. One feature spec = no train/serve skew.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54096"/>
            <a:ext cx="1106424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E7C66"/>
                </a:solidFill>
                <a:latin typeface="Calibri"/>
              </a:rPr>
              <a:t>Diversity &amp; freshness re-rank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21B2D"/>
                </a:solidFill>
                <a:latin typeface="Calibri"/>
              </a:rPr>
              <a:t>Caps per genre/creator + reserved slots for new uploads, so feeds stay varied and new content gets discovered.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95344"/>
            <a:ext cx="1106424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E7C66"/>
                </a:solidFill>
                <a:latin typeface="Calibri"/>
              </a:rPr>
              <a:t>Real-time session features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21B2D"/>
                </a:solidFill>
                <a:latin typeface="Calibri"/>
              </a:rPr>
              <a:t>Redis updates per event; the feed reacts within the session, before any retraining.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6592"/>
            <a:ext cx="1106424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E7C66"/>
                </a:solidFill>
                <a:latin typeface="Calibri"/>
              </a:rPr>
              <a:t>Self-learning + model registry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21B2D"/>
                </a:solidFill>
                <a:latin typeface="Calibri"/>
              </a:rPr>
              <a:t>Recency-weighted retraining; every version's quality is tracked and the best one is served 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577840"/>
            <a:ext cx="1106424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E7C66"/>
                </a:solidFill>
                <a:latin typeface="Calibri"/>
              </a:rPr>
              <a:t>Built-in A/B test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21B2D"/>
                </a:solidFill>
                <a:latin typeface="Calibri"/>
              </a:rPr>
              <a:t>Recommender vs popularity baseline, with live CTR / watch-time / session-length lift — honest proof of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3A386"/>
                </a:solidFill>
                <a:latin typeface="Calibri"/>
              </a:rPr>
              <a:t>04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1B2D"/>
                </a:solidFill>
                <a:latin typeface="Calibri"/>
              </a:rPr>
              <a:t>The live monitoring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2794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3190553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1371600"/>
            <a:ext cx="7132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1B2D"/>
                </a:solidFill>
                <a:latin typeface="Calibri"/>
              </a:rPr>
              <a:t>Five panels, all updating live (~2s):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7223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E7C66"/>
                </a:solidFill>
                <a:latin typeface="Calibri"/>
              </a:rPr>
              <a:t>1 · Live workflow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21B2D"/>
                </a:solidFill>
                <a:latin typeface="Calibri"/>
              </a:rPr>
              <a:t>funnel counts, a live feed, event ticker, active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41447"/>
            <a:ext cx="7223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E7C66"/>
                </a:solidFill>
                <a:latin typeface="Calibri"/>
              </a:rPr>
              <a:t>2 · Model timeline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21B2D"/>
                </a:solidFill>
                <a:latin typeface="Calibri"/>
              </a:rPr>
              <a:t>model quality across versions as it learns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08375"/>
            <a:ext cx="7223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E7C66"/>
                </a:solidFill>
                <a:latin typeface="Calibri"/>
              </a:rPr>
              <a:t>3 · A/B test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21B2D"/>
                </a:solidFill>
                <a:latin typeface="Calibri"/>
              </a:rPr>
              <a:t>recommender vs popularity, with the lift readout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575303"/>
            <a:ext cx="7223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E7C66"/>
                </a:solidFill>
                <a:latin typeface="Calibri"/>
              </a:rPr>
              <a:t>4 · Scenario controls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21B2D"/>
                </a:solidFill>
                <a:latin typeface="Calibri"/>
              </a:rPr>
              <a:t>the demo cockpit — sim, scenarios, retrain, reset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42231"/>
            <a:ext cx="7223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E7C66"/>
                </a:solidFill>
                <a:latin typeface="Calibri"/>
              </a:rPr>
              <a:t>5 · Pipeline status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21B2D"/>
                </a:solidFill>
                <a:latin typeface="Calibri"/>
              </a:rPr>
              <a:t>ingest → feature update → retrain → deploy,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892040"/>
            <a:ext cx="7178040" cy="1325880"/>
          </a:xfrm>
          <a:prstGeom prst="roundRect">
            <a:avLst>
              <a:gd name="adj" fmla="val 6000"/>
            </a:avLst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5029200"/>
            <a:ext cx="68580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21B2D"/>
                </a:solidFill>
                <a:latin typeface="Calibri"/>
              </a:rPr>
              <a:t>A banner prints a plain-English summary after each retrain — e.g. “after retrain v7, comedy share of feeds rose 18%, NDCG@10 +0.04.”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3A386"/>
                </a:solidFill>
                <a:latin typeface="Calibri"/>
              </a:rPr>
              <a:t>05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1B2D"/>
                </a:solidFill>
                <a:latin typeface="Calibri"/>
              </a:rPr>
              <a:t>How to use it — the live demo (~1 minute)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2794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81328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E7C66"/>
                </a:solidFill>
                <a:latin typeface="Calibri"/>
              </a:rPr>
              <a:t>Start the simulation —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21B2D"/>
                </a:solidFill>
                <a:latin typeface="Calibri"/>
              </a:rPr>
              <a:t>synthetic users flow through the real recommender; the dashboard comes alive.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50008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E7C66"/>
                </a:solidFill>
                <a:latin typeface="Calibri"/>
              </a:rPr>
              <a:t>Read the A/B panel —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21B2D"/>
                </a:solidFill>
                <a:latin typeface="Calibri"/>
              </a:rPr>
              <a:t>the recommender already beats the popularity baseline — most on watch-time.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18688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E7C66"/>
                </a:solidFill>
                <a:latin typeface="Calibri"/>
              </a:rPr>
              <a:t>Inject genre_shift —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21B2D"/>
                </a:solidFill>
                <a:latin typeface="Calibri"/>
              </a:rPr>
              <a:t>a cohort suddenly prefers a new genre (a “tastes changed” event).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087368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E7C66"/>
                </a:solidFill>
                <a:latin typeface="Calibri"/>
              </a:rPr>
              <a:t>Trigger retrain —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21B2D"/>
                </a:solidFill>
                <a:latin typeface="Calibri"/>
              </a:rPr>
              <a:t>a new model trains, is evaluated, and goes live in ~10 seconds.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956048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E7C66"/>
                </a:solidFill>
                <a:latin typeface="Calibri"/>
              </a:rPr>
              <a:t>Watch it adapt —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21B2D"/>
                </a:solidFill>
                <a:latin typeface="Calibri"/>
              </a:rPr>
              <a:t>the banner, the model timeline, and the user's feed all shift to the new genre.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07086"/>
                </a:solidFill>
                <a:latin typeface="Calibri"/>
              </a:rPr>
              <a:t>Other scenarios (same inject → retrain pattern):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21B2D"/>
                </a:solidFill>
                <a:latin typeface="Calibri"/>
              </a:rPr>
              <a:t>new_content_surge · cold_start_wave ·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3A386"/>
                </a:solidFill>
                <a:latin typeface="Calibri"/>
              </a:rPr>
              <a:t>06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1B2D"/>
                </a:solidFill>
                <a:latin typeface="Calibri"/>
              </a:rPr>
              <a:t>Results — proven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2794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1B2D"/>
                </a:solidFill>
                <a:latin typeface="Calibri"/>
              </a:rPr>
              <a:t>Live A/B test: recommender (treatment) vs popularity (control)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6200" marR="76200" marT="38100" marB="38100"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6200" marR="76200" marT="38100" marB="38100"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 marL="76200" marR="76200" marT="38100" marB="38100">
                    <a:solidFill>
                      <a:srgbClr val="0E7C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1B2D"/>
                          </a:solidFill>
                          <a:latin typeface="Calibri"/>
                        </a:rPr>
                        <a:t>Avg watch-time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B2D"/>
                          </a:solidFill>
                          <a:latin typeface="Calibri"/>
                        </a:rPr>
                        <a:t>the retention signal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B2D"/>
                          </a:solidFill>
                          <a:latin typeface="Calibri"/>
                        </a:rPr>
                        <a:t>≈ +45%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1B2D"/>
                          </a:solidFill>
                          <a:latin typeface="Calibri"/>
                        </a:rPr>
                        <a:t>Watch-fraction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B2D"/>
                          </a:solidFill>
                          <a:latin typeface="Calibri"/>
                        </a:rPr>
                        <a:t>how much gets watched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B2D"/>
                          </a:solidFill>
                          <a:latin typeface="Calibri"/>
                        </a:rPr>
                        <a:t>≈ +34%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1B2D"/>
                          </a:solidFill>
                          <a:latin typeface="Calibri"/>
                        </a:rPr>
                        <a:t>Session length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B2D"/>
                          </a:solidFill>
                          <a:latin typeface="Calibri"/>
                        </a:rPr>
                        <a:t>videos per session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B2D"/>
                          </a:solidFill>
                          <a:latin typeface="Calibri"/>
                        </a:rPr>
                        <a:t>≈ +26%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1B2D"/>
                          </a:solidFill>
                          <a:latin typeface="Calibri"/>
                        </a:rPr>
                        <a:t>Click-through rate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B2D"/>
                          </a:solidFill>
                          <a:latin typeface="Calibri"/>
                        </a:rPr>
                        <a:t>secondary signal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B2D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828800"/>
            <a:ext cx="4069080" cy="1828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1956816"/>
            <a:ext cx="3703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Why watch-time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2395728"/>
            <a:ext cx="36667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Lenta optimizes watch-time, so that — not raw clicks — is the headline.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It also ~doubles the popularity baseline on offline ranking (Recall@K / NDCG@K).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11556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Built like production, not a prototype: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Zero-downtime model hot-swaps.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Train/serve feature parity.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Runs indefinitely — event log, artifacts &amp; tables auto-bounded.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Deterministic, typed, health-checked, tested.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5720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Cloud-deployed on Railway (per-service containers).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Managed Postgres + Redis; GitHub auto-deploy.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Stack: Python · FastAPI · implicit (ALS) · LightGBM · React/TypeScript.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Custom domains; live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3A386"/>
                </a:solidFill>
                <a:latin typeface="Calibri"/>
              </a:rPr>
              <a:t>07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1B2D"/>
                </a:solidFill>
                <a:latin typeface="Calibri"/>
              </a:rPr>
              <a:t>Applying Lenta to your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2794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1B2D"/>
                </a:solidFill>
                <a:latin typeface="Calibri"/>
              </a:rPr>
              <a:t>API-first — keep your stack, integrate at just two touch-points: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11096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①  Render feeds — GET /feed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50008"/>
            <a:ext cx="50383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Call /feed?user_id=&amp;k= on home / browse / “up next” and render the returned videos.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11096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②  Stream behavior — POST /event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50008"/>
            <a:ext cx="50383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Send impression / click / play with watch_seconds &amp; watch_fraction — the fuel the model learns from.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E7C66"/>
                </a:solidFill>
                <a:latin typeface="Calibri"/>
              </a:rPr>
              <a:t>Then it's automatic: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21B2D"/>
                </a:solidFill>
                <a:latin typeface="Calibri"/>
              </a:rPr>
              <a:t>the trainer retrains on your events and the API hot-swaps the new model. Roll out safely with the built-in A/B (start 5–10% treatment → ramp).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05655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Two deployment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44567"/>
            <a:ext cx="50383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Sidecar microservice (recommended): run Lenta next to your platform; call it over HTTP. Language-agnostic, low coupling.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Embedded library: import the core Python package and call it in-process.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77639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4105655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Phased, safe migration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544567"/>
            <a:ext cx="50383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Shadow — log events &amp; generate feeds without showing them.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Canary A/B — 5–10% of users on Lenta.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Ramp — 50/50 → full, keep a small control to quantify value.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Full guide: docs/INTEGRATION.md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3A386"/>
                </a:solidFill>
                <a:latin typeface="Calibri"/>
              </a:rPr>
              <a:t>08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1B2D"/>
                </a:solidFill>
                <a:latin typeface="Calibri"/>
              </a:rPr>
              <a:t>Scaling to thousands → millions of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2794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1B2D"/>
                </a:solidFill>
                <a:latin typeface="Calibri"/>
              </a:rPr>
              <a:t>Same multi-stage funnel Netflix / YouTube / Amazon use — so scaling is localized, low-risk upgrades, not rewrites.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109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657600"/>
                <a:gridCol w="49834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6200" marR="76200" marT="38100" marB="38100"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MVP today</a:t>
                      </a:r>
                    </a:p>
                  </a:txBody>
                  <a:tcPr marL="76200" marR="76200" marT="38100" marB="38100"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 scale (10k → 10M+)</a:t>
                      </a:r>
                    </a:p>
                  </a:txBody>
                  <a:tcPr marL="76200" marR="76200" marT="38100" marB="38100">
                    <a:solidFill>
                      <a:srgbClr val="0E7C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B2D"/>
                          </a:solidFill>
                          <a:latin typeface="Calibri"/>
                        </a:rPr>
                        <a:t>API serving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B2D"/>
                          </a:solidFill>
                          <a:latin typeface="Calibri"/>
                        </a:rPr>
                        <a:t>single instance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B2D"/>
                          </a:solidFill>
                          <a:latin typeface="Calibri"/>
                        </a:rPr>
                        <a:t>N stateless replicas + autoscaling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B2D"/>
                          </a:solidFill>
                          <a:latin typeface="Calibri"/>
                        </a:rPr>
                        <a:t>Candidate gen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B2D"/>
                          </a:solidFill>
                          <a:latin typeface="Calibri"/>
                        </a:rPr>
                        <a:t>ALS over full catalog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B2D"/>
                          </a:solidFill>
                          <a:latin typeface="Calibri"/>
                        </a:rPr>
                        <a:t>Two-tower + ANN index (FAISS/ScaNN/pgvector) — &lt;10ms over 100M+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B2D"/>
                          </a:solidFill>
                          <a:latin typeface="Calibri"/>
                        </a:rPr>
                        <a:t>Ingestion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B2D"/>
                          </a:solidFill>
                          <a:latin typeface="Calibri"/>
                        </a:rPr>
                        <a:t>sync POST → Postgres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B2D"/>
                          </a:solidFill>
                          <a:latin typeface="Calibri"/>
                        </a:rPr>
                        <a:t>Kafka / Redpanda stream → Redis + batch-write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B2D"/>
                          </a:solidFill>
                          <a:latin typeface="Calibri"/>
                        </a:rPr>
                        <a:t>Artifacts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B2D"/>
                          </a:solidFill>
                          <a:latin typeface="Calibri"/>
                        </a:rPr>
                        <a:t>Postgres bytea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B2D"/>
                          </a:solidFill>
                          <a:latin typeface="Calibri"/>
                        </a:rPr>
                        <a:t>object storage (S3 / Cloudflare R2)</a:t>
                      </a:r>
                    </a:p>
                  </a:txBody>
                  <a:tcPr marL="76200" marR="76200" marT="38100" marB="381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526280"/>
            <a:ext cx="11109960" cy="1691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654296"/>
            <a:ext cx="10744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7C66"/>
                </a:solidFill>
                <a:latin typeface="Calibri"/>
              </a:rPr>
              <a:t>Already built 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093208"/>
            <a:ext cx="107076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Stateless serving + hot-swap registry · auto-bounded event log/artifacts → serving DB stays lean at any volume.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21B2D"/>
                </a:solidFill>
                <a:latin typeface="Calibri"/>
              </a:rPr>
              <a:t>•  Recency-weighted, event-capped training stays fast regardless of history · built-in A/B = safe canary for every model.   (Full guide: docs/SCALING.md)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Try it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6F6F1"/>
                </a:solidFill>
                <a:latin typeface="Calibri"/>
              </a:rPr>
              <a:t>Press  Start → genre_shift → Trigger retrain  and watch Lenta learn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FE8DB"/>
                </a:solidFill>
                <a:latin typeface="Calibri"/>
              </a:rPr>
              <a:t>Dashboard: 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https://lenta-mvp.xyz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4164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FE8DB"/>
                </a:solidFill>
                <a:latin typeface="Calibri"/>
              </a:rPr>
              <a:t>API &amp; docs: 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https://api.lenta-mvp.xyz/docs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0857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FE8DB"/>
                </a:solidFill>
                <a:latin typeface="Calibri"/>
              </a:rPr>
              <a:t>Source code: 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github.com/khnur/lenta-mvp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FF3E7"/>
                </a:solidFill>
                <a:latin typeface="Calibri"/>
              </a:rPr>
              <a:t>Working · Deployed · Live · Open-source       Thank you for reviewing Lenta.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